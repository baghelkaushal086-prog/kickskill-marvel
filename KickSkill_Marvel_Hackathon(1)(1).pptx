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hook: what if your resume was a Stark Industries tactical dashboard? Introduce team, theme (Marvel Cinematic Universe) and the product name.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Problem: static PDFs, unverified, filtered by ATS before a human sees them. Solution: verified Skill Passport, live AI coaching, and a gamified journey.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theme drives every feature: milestones are the six Infinity Stones, the AI is Stark tech, the credential is an Admit-One ticket, and even the audio is synthesised repulsor and vibranium sound.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Originality: instead of a rejection, KickSkill shows the exact skills that move your match score. Example from the README: closing PyTorch and Docker lifts an Anthropic match from 78 to 94 percent.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clean layers. React talks to FastAPI over typed HTTP and SSE streams. FastAPI persists to SQLite and calls an open-weights LLM, with an offline heuristic engine as fallback so the demo never breaks.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stats, then the two halves. Backend: auth, profiles, opportunities, application pipeline, roadmaps. AI: open-weights model, streaming chat with a HALT abort, roadmap synthesis, and a free fallback engine.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Rule 2 and Section 4: every resource listed with a verifiable license. AI coding assistants were used only as open-source harnesses for boilerplate, UI polish and tests. Be ready to explain the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mapping each judging area to evidence, then go straight to the demo. Sign in with demo@kickskill.com as Tony Stark.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rc reactor ring 1"/>
          <p:cNvSpPr/>
          <p:nvPr/>
        </p:nvSpPr>
        <p:spPr>
          <a:xfrm>
            <a:off x="5029200" y="640080"/>
            <a:ext cx="3840480" cy="3840480"/>
          </a:xfrm>
          <a:prstGeom prst="ellipse">
            <a:avLst/>
          </a:prstGeom>
          <a:solidFill>
            <a:srgbClr val="0B0F1A"/>
          </a:solidFill>
          <a:ln w="38100">
            <a:solidFill>
              <a:srgbClr val="E23636"/>
            </a:solidFill>
            <a:prstDash val="solid"/>
          </a:ln>
        </p:spPr>
      </p:sp>
      <p:sp>
        <p:nvSpPr>
          <p:cNvPr id="4" name="Arc reactor ring 2"/>
          <p:cNvSpPr/>
          <p:nvPr/>
        </p:nvSpPr>
        <p:spPr>
          <a:xfrm>
            <a:off x="5486400" y="1097280"/>
            <a:ext cx="2926080" cy="2926080"/>
          </a:xfrm>
          <a:prstGeom prst="ellipse">
            <a:avLst/>
          </a:prstGeom>
          <a:solidFill>
            <a:srgbClr val="0B0F1A"/>
          </a:solidFill>
          <a:ln w="38100">
            <a:solidFill>
              <a:srgbClr val="F5B301"/>
            </a:solidFill>
            <a:prstDash val="solid"/>
          </a:ln>
        </p:spPr>
      </p:sp>
      <p:sp>
        <p:nvSpPr>
          <p:cNvPr id="5" name="Arc reactor ring 3"/>
          <p:cNvSpPr/>
          <p:nvPr/>
        </p:nvSpPr>
        <p:spPr>
          <a:xfrm>
            <a:off x="5943600" y="1554480"/>
            <a:ext cx="2011680" cy="2011680"/>
          </a:xfrm>
          <a:prstGeom prst="ellipse">
            <a:avLst/>
          </a:prstGeom>
          <a:solidFill>
            <a:srgbClr val="E23636"/>
          </a:solidFill>
          <a:ln w="38100">
            <a:solidFill>
              <a:srgbClr val="E23636"/>
            </a:solidFill>
            <a:prstDash val="solid"/>
          </a:ln>
        </p:spPr>
      </p:sp>
      <p:sp>
        <p:nvSpPr>
          <p:cNvPr id="6" name="Arc reactor core"/>
          <p:cNvSpPr/>
          <p:nvPr/>
        </p:nvSpPr>
        <p:spPr>
          <a:xfrm>
            <a:off x="6583680" y="2194560"/>
            <a:ext cx="731520" cy="731520"/>
          </a:xfrm>
          <a:prstGeom prst="ellipse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914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CROSSOVER HACKATHON 2026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37160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KickSkill</a:t>
            </a:r>
            <a:endParaRPr lang="en-US" sz="54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22860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236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Marvel Cinematic Edition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292608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A9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Stark Industries &amp; S.H.I.E.L.D. command center for student careers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4206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fandom meets innovation.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Resumes are a black hole</a:t>
            </a:r>
            <a:endParaRPr lang="en-US" sz="3400" dirty="0"/>
          </a:p>
        </p:txBody>
      </p:sp>
      <p:sp>
        <p:nvSpPr>
          <p:cNvPr id="4" name="Problem card"/>
          <p:cNvSpPr/>
          <p:nvPr/>
        </p:nvSpPr>
        <p:spPr>
          <a:xfrm>
            <a:off x="457200" y="1188720"/>
            <a:ext cx="3291840" cy="3383280"/>
          </a:xfrm>
          <a:prstGeom prst="roundRect">
            <a:avLst>
              <a:gd name="adj" fmla="val 2778"/>
            </a:avLst>
          </a:prstGeom>
          <a:solidFill>
            <a:srgbClr val="161C2D"/>
          </a:solidFill>
          <a:ln w="12700">
            <a:solidFill>
              <a:srgbClr val="161C2D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4630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rgbClr val="E236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80%+</a:t>
            </a:r>
            <a:endParaRPr lang="en-US" sz="66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26517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unverified PDF resumes are rejected by applicant tracking systems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37490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A9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get silence, not feedback.</a:t>
            </a:r>
            <a:endParaRPr lang="en-US" sz="1400" dirty="0"/>
          </a:p>
        </p:txBody>
      </p:sp>
      <p:sp>
        <p:nvSpPr>
          <p:cNvPr id="8" name="Step 1"/>
          <p:cNvSpPr/>
          <p:nvPr/>
        </p:nvSpPr>
        <p:spPr>
          <a:xfrm>
            <a:off x="4114800" y="1280160"/>
            <a:ext cx="548640" cy="548640"/>
          </a:xfrm>
          <a:prstGeom prst="ellipse">
            <a:avLst/>
          </a:prstGeom>
          <a:solidFill>
            <a:srgbClr val="F5B301"/>
          </a:solidFill>
          <a:ln w="12700">
            <a:solidFill>
              <a:srgbClr val="F5B30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114800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4846320" y="1188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 Passport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4846320" y="160020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9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credentials, project audits and adaptive quizzes replace claims.</a:t>
            </a:r>
            <a:endParaRPr lang="en-US" sz="1400" dirty="0"/>
          </a:p>
        </p:txBody>
      </p:sp>
      <p:sp>
        <p:nvSpPr>
          <p:cNvPr id="12" name="Step 2"/>
          <p:cNvSpPr/>
          <p:nvPr/>
        </p:nvSpPr>
        <p:spPr>
          <a:xfrm>
            <a:off x="4114800" y="2468880"/>
            <a:ext cx="548640" cy="548640"/>
          </a:xfrm>
          <a:prstGeom prst="ellipse">
            <a:avLst/>
          </a:prstGeom>
          <a:solidFill>
            <a:srgbClr val="F5B301"/>
          </a:solidFill>
          <a:ln w="12700">
            <a:solidFill>
              <a:srgbClr val="F5B30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114800" y="2468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4846320" y="23774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Stark AI coach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4846320" y="278892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9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streaming guidance and personalised learning roadmaps.</a:t>
            </a:r>
            <a:endParaRPr lang="en-US" sz="1400" dirty="0"/>
          </a:p>
        </p:txBody>
      </p:sp>
      <p:sp>
        <p:nvSpPr>
          <p:cNvPr id="16" name="Step 3"/>
          <p:cNvSpPr/>
          <p:nvPr/>
        </p:nvSpPr>
        <p:spPr>
          <a:xfrm>
            <a:off x="4114800" y="3657600"/>
            <a:ext cx="548640" cy="548640"/>
          </a:xfrm>
          <a:prstGeom prst="ellipse">
            <a:avLst/>
          </a:prstGeom>
          <a:solidFill>
            <a:srgbClr val="F5B301"/>
          </a:solidFill>
          <a:ln w="12700">
            <a:solidFill>
              <a:srgbClr val="F5B30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114800" y="3657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4846320" y="35661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Infinity Stones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4846320" y="39776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9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career milestones turn job hunting into a hero journey.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Marvel is the product, not a skin</a:t>
            </a:r>
            <a:endParaRPr lang="en-US" sz="3400" dirty="0"/>
          </a:p>
        </p:txBody>
      </p:sp>
      <p:sp>
        <p:nvSpPr>
          <p:cNvPr id="4" name="Space stone"/>
          <p:cNvSpPr/>
          <p:nvPr/>
        </p:nvSpPr>
        <p:spPr>
          <a:xfrm>
            <a:off x="731520" y="1097280"/>
            <a:ext cx="731520" cy="731520"/>
          </a:xfrm>
          <a:prstGeom prst="ellipse">
            <a:avLst/>
          </a:prstGeom>
          <a:solidFill>
            <a:srgbClr val="3B82F6"/>
          </a:solidFill>
          <a:ln w="19050">
            <a:solidFill>
              <a:srgbClr val="F2F2F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1920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21945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9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200" dirty="0"/>
          </a:p>
        </p:txBody>
      </p:sp>
      <p:sp>
        <p:nvSpPr>
          <p:cNvPr id="7" name="Mind stone"/>
          <p:cNvSpPr/>
          <p:nvPr/>
        </p:nvSpPr>
        <p:spPr>
          <a:xfrm>
            <a:off x="2103120" y="1097280"/>
            <a:ext cx="731520" cy="731520"/>
          </a:xfrm>
          <a:prstGeom prst="ellipse">
            <a:avLst/>
          </a:prstGeom>
          <a:solidFill>
            <a:srgbClr val="F5B301"/>
          </a:solidFill>
          <a:ln w="19050">
            <a:solidFill>
              <a:srgbClr val="F2F2F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828800" y="1920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828800" y="21945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9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1200" dirty="0"/>
          </a:p>
        </p:txBody>
      </p:sp>
      <p:sp>
        <p:nvSpPr>
          <p:cNvPr id="10" name="Reality stone"/>
          <p:cNvSpPr/>
          <p:nvPr/>
        </p:nvSpPr>
        <p:spPr>
          <a:xfrm>
            <a:off x="3474720" y="1097280"/>
            <a:ext cx="731520" cy="731520"/>
          </a:xfrm>
          <a:prstGeom prst="ellipse">
            <a:avLst/>
          </a:prstGeom>
          <a:solidFill>
            <a:srgbClr val="E23636"/>
          </a:solidFill>
          <a:ln w="19050">
            <a:solidFill>
              <a:srgbClr val="F2F2F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200400" y="1920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3200400" y="21945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9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</a:t>
            </a:r>
            <a:endParaRPr lang="en-US" sz="1200" dirty="0"/>
          </a:p>
        </p:txBody>
      </p:sp>
      <p:sp>
        <p:nvSpPr>
          <p:cNvPr id="13" name="Power stone"/>
          <p:cNvSpPr/>
          <p:nvPr/>
        </p:nvSpPr>
        <p:spPr>
          <a:xfrm>
            <a:off x="4846320" y="1097280"/>
            <a:ext cx="731520" cy="731520"/>
          </a:xfrm>
          <a:prstGeom prst="ellipse">
            <a:avLst/>
          </a:prstGeom>
          <a:solidFill>
            <a:srgbClr val="9B5DE5"/>
          </a:solidFill>
          <a:ln w="19050">
            <a:solidFill>
              <a:srgbClr val="F2F2F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72000" y="1920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0" y="21945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9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200" dirty="0"/>
          </a:p>
        </p:txBody>
      </p:sp>
      <p:sp>
        <p:nvSpPr>
          <p:cNvPr id="16" name="Time stone"/>
          <p:cNvSpPr/>
          <p:nvPr/>
        </p:nvSpPr>
        <p:spPr>
          <a:xfrm>
            <a:off x="6217920" y="1097280"/>
            <a:ext cx="731520" cy="731520"/>
          </a:xfrm>
          <a:prstGeom prst="ellipse">
            <a:avLst/>
          </a:prstGeom>
          <a:solidFill>
            <a:srgbClr val="22C55E"/>
          </a:solidFill>
          <a:ln w="19050">
            <a:solidFill>
              <a:srgbClr val="F2F2F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943600" y="1920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5943600" y="21945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9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Interviews</a:t>
            </a:r>
            <a:endParaRPr lang="en-US" sz="1200" dirty="0"/>
          </a:p>
        </p:txBody>
      </p:sp>
      <p:sp>
        <p:nvSpPr>
          <p:cNvPr id="19" name="Soul stone"/>
          <p:cNvSpPr/>
          <p:nvPr/>
        </p:nvSpPr>
        <p:spPr>
          <a:xfrm>
            <a:off x="7589520" y="1097280"/>
            <a:ext cx="731520" cy="731520"/>
          </a:xfrm>
          <a:prstGeom prst="ellipse">
            <a:avLst/>
          </a:prstGeom>
          <a:solidFill>
            <a:srgbClr val="F97316"/>
          </a:solidFill>
          <a:ln w="19050">
            <a:solidFill>
              <a:srgbClr val="F2F2F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315200" y="1920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Soul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7315200" y="21945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9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Offers</a:t>
            </a:r>
            <a:endParaRPr lang="en-US" sz="1200" dirty="0"/>
          </a:p>
        </p:txBody>
      </p:sp>
      <p:sp>
        <p:nvSpPr>
          <p:cNvPr id="22" name="Theme card 1"/>
          <p:cNvSpPr/>
          <p:nvPr/>
        </p:nvSpPr>
        <p:spPr>
          <a:xfrm>
            <a:off x="457200" y="283464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161C2D"/>
          </a:solidFill>
          <a:ln w="12700">
            <a:solidFill>
              <a:srgbClr val="161C2D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40080" y="2971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5B30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Stark Tactical AI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640080" y="342900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Reactor telemetry and JARVIS-style streaming career guidance.</a:t>
            </a:r>
            <a:endParaRPr lang="en-US" sz="1400" dirty="0"/>
          </a:p>
        </p:txBody>
      </p:sp>
      <p:sp>
        <p:nvSpPr>
          <p:cNvPr id="25" name="Theme card 2"/>
          <p:cNvSpPr/>
          <p:nvPr/>
        </p:nvSpPr>
        <p:spPr>
          <a:xfrm>
            <a:off x="3291840" y="283464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161C2D"/>
          </a:solidFill>
          <a:ln w="12700">
            <a:solidFill>
              <a:srgbClr val="161C2D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3474720" y="2971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5B30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Admit-One Passport</a:t>
            </a:r>
            <a:endParaRPr lang="en-US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3474720" y="342900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cinematic Stark Industries ticket showing verified credentials.</a:t>
            </a:r>
            <a:endParaRPr lang="en-US" sz="1400" dirty="0"/>
          </a:p>
        </p:txBody>
      </p:sp>
      <p:sp>
        <p:nvSpPr>
          <p:cNvPr id="28" name="Theme card 3"/>
          <p:cNvSpPr/>
          <p:nvPr/>
        </p:nvSpPr>
        <p:spPr>
          <a:xfrm>
            <a:off x="6126480" y="283464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161C2D"/>
          </a:solidFill>
          <a:ln w="12700">
            <a:solidFill>
              <a:srgbClr val="161C2D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309360" y="2971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5B30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Immersive tech</a:t>
            </a:r>
            <a:endParaRPr lang="en-US" sz="1800" dirty="0"/>
          </a:p>
        </p:txBody>
      </p:sp>
      <p:sp>
        <p:nvSpPr>
          <p:cNvPr id="30" name="Text 27"/>
          <p:cNvSpPr txBox="1"/>
          <p:nvPr/>
        </p:nvSpPr>
        <p:spPr>
          <a:xfrm>
            <a:off x="6309360" y="342900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Audio repulsor sounds, a cursor-tracking 3D Iron Man helmet, Spider-Man companion.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"you didn't match" but "here's how"</a:t>
            </a:r>
            <a:endParaRPr lang="en-US" sz="3400" dirty="0"/>
          </a:p>
        </p:txBody>
      </p:sp>
      <p:sp>
        <p:nvSpPr>
          <p:cNvPr id="4" name="Gap telemetry card"/>
          <p:cNvSpPr/>
          <p:nvPr/>
        </p:nvSpPr>
        <p:spPr>
          <a:xfrm>
            <a:off x="457200" y="1188720"/>
            <a:ext cx="4206240" cy="3383280"/>
          </a:xfrm>
          <a:prstGeom prst="roundRect">
            <a:avLst>
              <a:gd name="adj" fmla="val 2703"/>
            </a:avLst>
          </a:prstGeom>
          <a:solidFill>
            <a:srgbClr val="161C2D"/>
          </a:solidFill>
          <a:ln w="12700">
            <a:solidFill>
              <a:srgbClr val="161C2D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TELEMETRY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192024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A9B0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78%</a:t>
            </a:r>
            <a:endParaRPr lang="en-US" sz="4800" dirty="0"/>
          </a:p>
        </p:txBody>
      </p:sp>
      <p:sp>
        <p:nvSpPr>
          <p:cNvPr id="7" name="Text 4"/>
          <p:cNvSpPr txBox="1"/>
          <p:nvPr/>
        </p:nvSpPr>
        <p:spPr>
          <a:xfrm>
            <a:off x="2240280" y="201168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2834640" y="192024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E236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94%</a:t>
            </a:r>
            <a:endParaRPr lang="en-US" sz="48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320040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PyTorch and Docker to lift your match for a top AI role.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502920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Deterministic verification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5029200" y="160020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9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are backed by project audits and adaptive 3-question quizzes.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029200" y="2377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Actionable feedback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5029200" y="27889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9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 skills are named, ranked and linked to a roadmap.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5029200" y="3566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Gamified growth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5029200" y="39776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9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superhero arc keeps students learning.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design</a:t>
            </a:r>
            <a:endParaRPr lang="en-US" sz="3400" dirty="0"/>
          </a:p>
        </p:txBody>
      </p:sp>
      <p:sp>
        <p:nvSpPr>
          <p:cNvPr id="4" name="Frontend box"/>
          <p:cNvSpPr/>
          <p:nvPr/>
        </p:nvSpPr>
        <p:spPr>
          <a:xfrm>
            <a:off x="457200" y="1371600"/>
            <a:ext cx="2377440" cy="2743200"/>
          </a:xfrm>
          <a:prstGeom prst="roundRect">
            <a:avLst>
              <a:gd name="adj" fmla="val 3846"/>
            </a:avLst>
          </a:prstGeom>
          <a:solidFill>
            <a:srgbClr val="161C2D"/>
          </a:solidFill>
          <a:ln w="12700">
            <a:solidFill>
              <a:srgbClr val="161C2D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15087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5B30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96596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• Vite 8 • Tailwind v4 • Framer Motion • Web Audio</a:t>
            </a:r>
            <a:endParaRPr lang="en-US" sz="1400" dirty="0"/>
          </a:p>
        </p:txBody>
      </p:sp>
      <p:sp>
        <p:nvSpPr>
          <p:cNvPr id="7" name="Backend box"/>
          <p:cNvSpPr/>
          <p:nvPr/>
        </p:nvSpPr>
        <p:spPr>
          <a:xfrm>
            <a:off x="3566160" y="1371600"/>
            <a:ext cx="2377440" cy="2743200"/>
          </a:xfrm>
          <a:prstGeom prst="roundRect">
            <a:avLst>
              <a:gd name="adj" fmla="val 3846"/>
            </a:avLst>
          </a:prstGeom>
          <a:solidFill>
            <a:srgbClr val="161C2D"/>
          </a:solidFill>
          <a:ln w="12700">
            <a:solidFill>
              <a:srgbClr val="161C2D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749040" y="15087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236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3749040" y="196596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• 6 routers • HS256 JWT • Pydantic v2 • SSE streaming</a:t>
            </a:r>
            <a:endParaRPr lang="en-US" sz="1400" dirty="0"/>
          </a:p>
        </p:txBody>
      </p:sp>
      <p:sp>
        <p:nvSpPr>
          <p:cNvPr id="10" name="Database box"/>
          <p:cNvSpPr/>
          <p:nvPr/>
        </p:nvSpPr>
        <p:spPr>
          <a:xfrm>
            <a:off x="6675120" y="1097280"/>
            <a:ext cx="2011680" cy="1463040"/>
          </a:xfrm>
          <a:prstGeom prst="roundRect">
            <a:avLst>
              <a:gd name="adj" fmla="val 6250"/>
            </a:avLst>
          </a:prstGeom>
          <a:solidFill>
            <a:srgbClr val="161C2D"/>
          </a:solidFill>
          <a:ln w="12700">
            <a:solidFill>
              <a:srgbClr val="161C2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858000" y="12344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SQLite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6858000" y="16916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relational tables</a:t>
            </a:r>
            <a:endParaRPr lang="en-US" sz="1400" dirty="0"/>
          </a:p>
        </p:txBody>
      </p:sp>
      <p:sp>
        <p:nvSpPr>
          <p:cNvPr id="13" name="AI box"/>
          <p:cNvSpPr/>
          <p:nvPr/>
        </p:nvSpPr>
        <p:spPr>
          <a:xfrm>
            <a:off x="6675120" y="2926080"/>
            <a:ext cx="2011680" cy="1463040"/>
          </a:xfrm>
          <a:prstGeom prst="roundRect">
            <a:avLst>
              <a:gd name="adj" fmla="val 6250"/>
            </a:avLst>
          </a:prstGeom>
          <a:solidFill>
            <a:srgbClr val="161C2D"/>
          </a:solidFill>
          <a:ln w="12700">
            <a:solidFill>
              <a:srgbClr val="161C2D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858000" y="30632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Open-source AI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6858000" y="35204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/ Gemma / Mistral + fallback</a:t>
            </a:r>
            <a:endParaRPr lang="en-US" sz="1400" dirty="0"/>
          </a:p>
        </p:txBody>
      </p:sp>
      <p:sp>
        <p:nvSpPr>
          <p:cNvPr id="16" name="Arrow"/>
          <p:cNvSpPr/>
          <p:nvPr/>
        </p:nvSpPr>
        <p:spPr>
          <a:xfrm>
            <a:off x="2834640" y="2743200"/>
            <a:ext cx="731520" cy="0"/>
          </a:xfrm>
          <a:prstGeom prst="line">
            <a:avLst/>
          </a:prstGeom>
          <a:noFill/>
          <a:ln w="25400">
            <a:solidFill>
              <a:srgbClr val="F2F2F2"/>
            </a:solidFill>
            <a:prstDash val="solid"/>
            <a:tailEnd type="triangle"/>
          </a:ln>
        </p:spPr>
      </p:sp>
      <p:sp>
        <p:nvSpPr>
          <p:cNvPr id="17" name="Arrow"/>
          <p:cNvSpPr/>
          <p:nvPr/>
        </p:nvSpPr>
        <p:spPr>
          <a:xfrm flipV="1">
            <a:off x="5943600" y="1828800"/>
            <a:ext cx="731520" cy="365760"/>
          </a:xfrm>
          <a:prstGeom prst="line">
            <a:avLst/>
          </a:prstGeom>
          <a:noFill/>
          <a:ln w="25400">
            <a:solidFill>
              <a:srgbClr val="F2F2F2"/>
            </a:solidFill>
            <a:prstDash val="solid"/>
            <a:tailEnd type="triangle"/>
          </a:ln>
        </p:spPr>
      </p:sp>
      <p:sp>
        <p:nvSpPr>
          <p:cNvPr id="18" name="Arrow"/>
          <p:cNvSpPr/>
          <p:nvPr/>
        </p:nvSpPr>
        <p:spPr>
          <a:xfrm>
            <a:off x="5943600" y="3291840"/>
            <a:ext cx="731520" cy="365760"/>
          </a:xfrm>
          <a:prstGeom prst="line">
            <a:avLst/>
          </a:prstGeom>
          <a:noFill/>
          <a:ln w="25400">
            <a:solidFill>
              <a:srgbClr val="F2F2F2"/>
            </a:solidFill>
            <a:prstDash val="solid"/>
            <a:tailEnd type="triangle"/>
          </a:ln>
        </p:spPr>
      </p:sp>
      <p:sp>
        <p:nvSpPr>
          <p:cNvPr id="19" name="Text 16"/>
          <p:cNvSpPr txBox="1"/>
          <p:nvPr/>
        </p:nvSpPr>
        <p:spPr>
          <a:xfrm>
            <a:off x="2743200" y="2377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9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/ SSE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and AI that do real work</a:t>
            </a:r>
            <a:endParaRPr lang="en-US" sz="3400" dirty="0"/>
          </a:p>
        </p:txBody>
      </p:sp>
      <p:sp>
        <p:nvSpPr>
          <p:cNvPr id="4" name="Stat 1"/>
          <p:cNvSpPr/>
          <p:nvPr/>
        </p:nvSpPr>
        <p:spPr>
          <a:xfrm>
            <a:off x="457200" y="1097280"/>
            <a:ext cx="2651760" cy="1005840"/>
          </a:xfrm>
          <a:prstGeom prst="roundRect">
            <a:avLst>
              <a:gd name="adj" fmla="val 9091"/>
            </a:avLst>
          </a:prstGeom>
          <a:solidFill>
            <a:srgbClr val="161C2D"/>
          </a:solidFill>
          <a:ln w="12700">
            <a:solidFill>
              <a:srgbClr val="161C2D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1188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B30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1737360" y="118872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tables</a:t>
            </a:r>
            <a:endParaRPr lang="en-US" sz="1400" dirty="0"/>
          </a:p>
        </p:txBody>
      </p:sp>
      <p:sp>
        <p:nvSpPr>
          <p:cNvPr id="7" name="Stat 2"/>
          <p:cNvSpPr/>
          <p:nvPr/>
        </p:nvSpPr>
        <p:spPr>
          <a:xfrm>
            <a:off x="3291840" y="1097280"/>
            <a:ext cx="2651760" cy="1005840"/>
          </a:xfrm>
          <a:prstGeom prst="roundRect">
            <a:avLst>
              <a:gd name="adj" fmla="val 9091"/>
            </a:avLst>
          </a:prstGeom>
          <a:solidFill>
            <a:srgbClr val="161C2D"/>
          </a:solidFill>
          <a:ln w="12700">
            <a:solidFill>
              <a:srgbClr val="161C2D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474720" y="1188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B30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3600" dirty="0"/>
          </a:p>
        </p:txBody>
      </p:sp>
      <p:sp>
        <p:nvSpPr>
          <p:cNvPr id="9" name="Text 6"/>
          <p:cNvSpPr txBox="1"/>
          <p:nvPr/>
        </p:nvSpPr>
        <p:spPr>
          <a:xfrm>
            <a:off x="4572000" y="118872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endpoints</a:t>
            </a:r>
            <a:endParaRPr lang="en-US" sz="1400" dirty="0"/>
          </a:p>
        </p:txBody>
      </p:sp>
      <p:sp>
        <p:nvSpPr>
          <p:cNvPr id="10" name="Stat 3"/>
          <p:cNvSpPr/>
          <p:nvPr/>
        </p:nvSpPr>
        <p:spPr>
          <a:xfrm>
            <a:off x="6126480" y="1097280"/>
            <a:ext cx="2651760" cy="1005840"/>
          </a:xfrm>
          <a:prstGeom prst="roundRect">
            <a:avLst>
              <a:gd name="adj" fmla="val 9091"/>
            </a:avLst>
          </a:prstGeom>
          <a:solidFill>
            <a:srgbClr val="161C2D"/>
          </a:solidFill>
          <a:ln w="12700">
            <a:solidFill>
              <a:srgbClr val="161C2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309360" y="1188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B30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8/8</a:t>
            </a:r>
            <a:endParaRPr lang="en-US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7406640" y="118872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tests passing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23774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236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2834640"/>
            <a:ext cx="4023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Passwordless JWT sign-in, session restore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search, filters, match telemetry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pipeline: submitted to offer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Swagger docs at /docs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4663440" y="23774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236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integration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4663440" y="2834640"/>
            <a:ext cx="4023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Open-weights Llama, Gemma or Mistral via Ollama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token streaming with instant HALT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multi-week roadmap synthesis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heuristic fallback, zero cost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 open source, fully documented</a:t>
            </a:r>
            <a:endParaRPr lang="en-US" sz="3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926080"/>
                <a:gridCol w="2560320"/>
              </a:tblGrid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Resource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B30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License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B30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B301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2F2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19 / Vite 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1C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2F2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1C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2F2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 and build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1C2D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2F2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Tailwind CSS 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0F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2F2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0F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2F2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Styling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0F1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2F2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Framer Motion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1C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2F2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1C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2F2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Animation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1C2D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2F2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Lucide Icons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0F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2F2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0F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2F2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0F1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2F2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FastAPI / PyJWT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1C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2F2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1C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2F2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 and auth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1C2D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2F2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Uvicorn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0F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2F2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BSD-3-Clause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0F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2F2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ASGI server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0F1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2F2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SQLite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1C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2F2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 domain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1C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2F2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1C2D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2F2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 3 / Gemma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0F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2F2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weights (community terms)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0F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2F2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intelligence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0F1A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paid tools, zero paid AI, zero proprietary APIs. AI assistants used only as open-source dev harnesses.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to score on every criterion</a:t>
            </a:r>
            <a:endParaRPr lang="en-US" sz="3400" dirty="0"/>
          </a:p>
        </p:txBody>
      </p:sp>
      <p:sp>
        <p:nvSpPr>
          <p:cNvPr id="4" name="Criterion 1"/>
          <p:cNvSpPr/>
          <p:nvPr/>
        </p:nvSpPr>
        <p:spPr>
          <a:xfrm>
            <a:off x="457200" y="1097280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161C2D"/>
          </a:solidFill>
          <a:ln w="12700">
            <a:solidFill>
              <a:srgbClr val="161C2D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1234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5B30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Theme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6916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Infinity Stones, Stark AI, Admit-One</a:t>
            </a:r>
            <a:endParaRPr lang="en-US" sz="1400" dirty="0"/>
          </a:p>
        </p:txBody>
      </p:sp>
      <p:sp>
        <p:nvSpPr>
          <p:cNvPr id="7" name="Criterion 2"/>
          <p:cNvSpPr/>
          <p:nvPr/>
        </p:nvSpPr>
        <p:spPr>
          <a:xfrm>
            <a:off x="3291840" y="1097280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161C2D"/>
          </a:solidFill>
          <a:ln w="12700">
            <a:solidFill>
              <a:srgbClr val="161C2D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474720" y="1234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5B30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Originality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3474720" y="16916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telemetry, verified skills</a:t>
            </a:r>
            <a:endParaRPr lang="en-US" sz="1400" dirty="0"/>
          </a:p>
        </p:txBody>
      </p:sp>
      <p:sp>
        <p:nvSpPr>
          <p:cNvPr id="10" name="Criterion 3"/>
          <p:cNvSpPr/>
          <p:nvPr/>
        </p:nvSpPr>
        <p:spPr>
          <a:xfrm>
            <a:off x="6126480" y="1097280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161C2D"/>
          </a:solidFill>
          <a:ln w="12700">
            <a:solidFill>
              <a:srgbClr val="161C2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309360" y="1234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5B30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design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6309360" y="16916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Layered, SSE, fallback</a:t>
            </a:r>
            <a:endParaRPr lang="en-US" sz="1400" dirty="0"/>
          </a:p>
        </p:txBody>
      </p:sp>
      <p:sp>
        <p:nvSpPr>
          <p:cNvPr id="13" name="Criterion 4"/>
          <p:cNvSpPr/>
          <p:nvPr/>
        </p:nvSpPr>
        <p:spPr>
          <a:xfrm>
            <a:off x="457200" y="2514600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161C2D"/>
          </a:solidFill>
          <a:ln w="12700">
            <a:solidFill>
              <a:srgbClr val="161C2D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0080" y="2651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5B30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" y="31089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FastAPI, SQLite, JWT, 11 APIs</a:t>
            </a:r>
            <a:endParaRPr lang="en-US" sz="1400" dirty="0"/>
          </a:p>
        </p:txBody>
      </p:sp>
      <p:sp>
        <p:nvSpPr>
          <p:cNvPr id="16" name="Criterion 5"/>
          <p:cNvSpPr/>
          <p:nvPr/>
        </p:nvSpPr>
        <p:spPr>
          <a:xfrm>
            <a:off x="3291840" y="2514600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161C2D"/>
          </a:solidFill>
          <a:ln w="12700">
            <a:solidFill>
              <a:srgbClr val="161C2D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474720" y="2651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5B30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3474720" y="31089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Open-weights LLM + roadmaps</a:t>
            </a:r>
            <a:endParaRPr lang="en-US" sz="1400" dirty="0"/>
          </a:p>
        </p:txBody>
      </p:sp>
      <p:sp>
        <p:nvSpPr>
          <p:cNvPr id="19" name="Criterion 6"/>
          <p:cNvSpPr/>
          <p:nvPr/>
        </p:nvSpPr>
        <p:spPr>
          <a:xfrm>
            <a:off x="6126480" y="2514600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161C2D"/>
          </a:solidFill>
          <a:ln w="12700">
            <a:solidFill>
              <a:srgbClr val="161C2D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309360" y="2651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5B30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UI/UX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6309360" y="31089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helmet, audio, transitions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9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github.com/baghelkaushal086-prog/kickskill-marvel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KickSkill - Marvel Cinematic Edition</dc:title>
  <dc:subject>PptxGenJS Presentation</dc:subject>
  <dc:creator>PptxGenJS</dc:creator>
  <cp:lastModifiedBy>PptxGenJS</cp:lastModifiedBy>
  <cp:revision>1</cp:revision>
  <dcterms:created xsi:type="dcterms:W3CDTF">2026-10-25T05:00:01Z</dcterms:created>
  <dcterms:modified xsi:type="dcterms:W3CDTF">2026-10-25T05:00:01Z</dcterms:modified>
</cp:coreProperties>
</file>